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Where Smart Money Finds Its 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Core Pillar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Liquidity?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Liquidity = Resting orders (stop losses)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Institutions need liquidity to fill positions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Retail places stops at predictable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Smart money 'hunts' these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CA3AF"/>
                </a:solidFill>
              </a:defRPr>
            </a:pPr>
            <a:r>
              <a:t>LIQUIDITY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286000"/>
            <a:ext cx="22860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Swing High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1920240"/>
            <a:ext cx="137160" cy="13716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0" y="1920240"/>
            <a:ext cx="137160" cy="13716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920240"/>
            <a:ext cx="137160" cy="13716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9440" y="1920240"/>
            <a:ext cx="137160" cy="13716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0" y="1920240"/>
            <a:ext cx="137160" cy="13716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3946"/>
                </a:solidFill>
              </a:defRPr>
            </a:pPr>
            <a:r>
              <a:t>Stop Losses (BSL)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9712" y="2834640"/>
            <a:ext cx="36576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766560" y="2743200"/>
            <a:ext cx="182880" cy="137160"/>
          </a:xfrm>
          <a:prstGeom prst="triangl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Price sweeps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Liquidity is the fuel that moves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Buy-Side Liquidity (BSL)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BSL = Stop losses ABOVE swing highs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0512" y="3200400"/>
            <a:ext cx="36576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5" y="3273552"/>
            <a:ext cx="292608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10512" y="3712464"/>
            <a:ext cx="36576" cy="1463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7712" y="2926080"/>
            <a:ext cx="36576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39696" y="2999232"/>
            <a:ext cx="292608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67712" y="3364992"/>
            <a:ext cx="36576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24912" y="2560320"/>
            <a:ext cx="36576" cy="21945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6896" y="2779776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3072384"/>
            <a:ext cx="36576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2834640"/>
            <a:ext cx="36576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2944368"/>
            <a:ext cx="292608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3310128"/>
            <a:ext cx="36576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9312" y="3108960"/>
            <a:ext cx="36576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11296" y="3182112"/>
            <a:ext cx="292608" cy="2926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9312" y="3474720"/>
            <a:ext cx="36576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2560320"/>
            <a:ext cx="18288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Swing 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03120"/>
            <a:ext cx="2194560" cy="365760"/>
          </a:xfrm>
          <a:prstGeom prst="rect">
            <a:avLst/>
          </a:prstGeom>
          <a:solidFill>
            <a:srgbClr val="E6394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BSL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3946"/>
                </a:solidFill>
              </a:defRPr>
            </a:pPr>
            <a:r>
              <a:t>Short sellers place stops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When price sweeps this zone: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1. Buy stops trigger (become market buys)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2. Smart money sells into this buying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3. Price reverses 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36576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BSL Sweep Chart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Sell-Side Liquidity (SSL)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SSL = Stop losses BELOW swing 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0512" y="2286000"/>
            <a:ext cx="36576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5" y="2432304"/>
            <a:ext cx="292608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10512" y="2798064"/>
            <a:ext cx="36576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7712" y="2560320"/>
            <a:ext cx="36576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39696" y="2670048"/>
            <a:ext cx="292608" cy="2926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67712" y="2962656"/>
            <a:ext cx="36576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24912" y="2926080"/>
            <a:ext cx="36576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6896" y="2999232"/>
            <a:ext cx="292608" cy="256031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3255264"/>
            <a:ext cx="36576" cy="2926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2651760"/>
            <a:ext cx="36576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2724912"/>
            <a:ext cx="292608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3017520"/>
            <a:ext cx="36576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9312" y="2377440"/>
            <a:ext cx="36576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11296" y="2450592"/>
            <a:ext cx="292608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9312" y="2816352"/>
            <a:ext cx="36576" cy="1463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611880"/>
            <a:ext cx="182880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Swing 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39"/>
            <a:ext cx="2194560" cy="365760"/>
          </a:xfrm>
          <a:prstGeom prst="rect">
            <a:avLst/>
          </a:prstGeom>
          <a:solidFill>
            <a:srgbClr val="22C55E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SSL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Long traders place stops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When price sweeps this zone: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1. Sell stops trigger (become market sells)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2. Smart money buys into this selling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3. Price reverses 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3657600" cy="164592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SSL Sweep Chart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Equal Highs &amp; Lows = Liquidity Magnets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EQUAL HIGHS (EQH)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2718" y="2011680"/>
            <a:ext cx="32003" cy="1600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" y="2171700"/>
            <a:ext cx="256031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2718" y="2491740"/>
            <a:ext cx="32003" cy="960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9918" y="2286000"/>
            <a:ext cx="32003" cy="9601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" y="2382012"/>
            <a:ext cx="256031" cy="256031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9918" y="2638044"/>
            <a:ext cx="32003" cy="128015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87117" y="2011680"/>
            <a:ext cx="32003" cy="1600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75103" y="2171700"/>
            <a:ext cx="256031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7117" y="2491740"/>
            <a:ext cx="32003" cy="960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011680"/>
            <a:ext cx="164592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3946"/>
                </a:solidFill>
              </a:defRPr>
            </a:pPr>
            <a:r>
              <a:t>Same Level = More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EQUAL LOWS (EQL)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87518" y="1828800"/>
            <a:ext cx="32003" cy="9601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75504" y="1924812"/>
            <a:ext cx="256031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87518" y="2244852"/>
            <a:ext cx="32003" cy="19202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4718" y="1554480"/>
            <a:ext cx="32003" cy="12801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32704" y="1682495"/>
            <a:ext cx="256031" cy="256031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44718" y="1938527"/>
            <a:ext cx="32003" cy="960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1918" y="1828800"/>
            <a:ext cx="32003" cy="9601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924812"/>
            <a:ext cx="256031" cy="320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1918" y="2244852"/>
            <a:ext cx="32003" cy="19202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2697480"/>
            <a:ext cx="164592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</a:defRPr>
            </a:pPr>
            <a:r>
              <a:t>Same Level = More Stops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74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Double/Triple tops and bottoms are LIQUIDITY POOLS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More touches at same level = More stops accumulated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Smart money LOVES to sweep these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  Mark them on your charts!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949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Equal Highs/Lows Sweep 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Liquidity Sweep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Step-by-Step Liquidity Sweep: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Price creates swing high - retail goes SHORT with stops above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Price rallies and SWEEPS the high (takes out stops)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Buy stops trigger - smart money SELLS into this buying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Price REVERSES and drops - targeting SSL below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8229600" cy="246888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Full Liquidity Sweep Trade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sweep IS the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Trade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Mark key liquidity levels (highs/lows, equal H/L)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Wait for price to SWEEP that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Look for reversal confirmation (rejection candle, BOS)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Enter OPPOSITE direction of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Target the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</a:defRPr>
            </a:pPr>
            <a:r>
              <a:t>SWEEP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0512" y="4480560"/>
            <a:ext cx="36576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1737360" y="4800600"/>
            <a:ext cx="182880" cy="137160"/>
          </a:xfrm>
          <a:prstGeom prst="triangl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3946"/>
                </a:solidFill>
              </a:defRPr>
            </a:pPr>
            <a:r>
              <a:t>= SHORT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SWEEP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8112" y="5029200"/>
            <a:ext cx="36576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5394960" y="4937760"/>
            <a:ext cx="182880" cy="137160"/>
          </a:xfrm>
          <a:prstGeom prst="triangl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= LONG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03520"/>
            <a:ext cx="4572000" cy="914400"/>
          </a:xfrm>
          <a:prstGeom prst="rect">
            <a:avLst/>
          </a:prstGeom>
          <a:solidFill>
            <a:srgbClr val="2D2D3C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5577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INSERT: Entry Example After Sweep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</a:defRPr>
            </a:pPr>
            <a:r>
              <a:t>BSL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Above highs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Target when BEARISH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SSL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Below 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Target when BULLISH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B308"/>
                </a:solidFill>
              </a:defRPr>
            </a:pPr>
            <a:r>
              <a:t>EQH/EQL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Strongest pools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Highest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Smart money sweeps liquidity before real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Don't place stops at obvious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Trade WITH smart money, not against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t>Follow the liquidity, find the money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